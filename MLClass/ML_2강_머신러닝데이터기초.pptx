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손으로 하는 시간. 1년 치 주문 데이터를 직접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 복습: 데이터·GPU·알고리즘 중 오늘은 데이터.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데이터가 많으면 눈으로는 안 된다. 오늘 코드 몇 줄로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끝나면 읽히는 세 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샘플·특성·정답. 오늘 강의 마지막에 X와 y로 나눈다.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 이름 소개. 코드에는 영어, 화면에는 한글.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[Colab 전환] 실습 준비 셀 먼저 실행 → 리스트 ×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리스트는 반복된다.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np.array로 바꾸고 계산.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배열은 칸마다 한 번에 계산된다.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2차원 배열, shape,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axis=0은 세로(메뉴별), axis=1은 가로(날짜별).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 = 숫자 배열 → 텐서(4강~5강).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read_csv, shape,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365행 13열. head()는 앞 5줄.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 꺼내기, mean, describe.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 362 → 빈칸 3개 발견.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isna().sum(), interpolate().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NaN은 비어 있음. 앞뒤 날 사이 값으로 채움.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df[조건]으로 행 고르기.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더운 날 80.4잔 vs 전체 46.3잔.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isin으로 주말 열 만들기, groupby 평균.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평일 라테, 주말 케이크.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 → plot(kind="bar").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아이스 아메리카노가 1등.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산점도.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위로 올라가는 모양 → 3강 회귀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[선택] 월별 합계 선 그래프.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시계열 → 6강.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X, y 나누기.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X는 표, y는 열 하나.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코드 회수. X → 모델 → y. 모델은 3강.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내용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미션: groupby, 산점도. 아이스와 반대로 내려가는 모양.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3강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C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개발자를 위한 머신러닝·딥러닝 기초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2강. 머신러닝 데이터 기초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주문 데이터 다루기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0632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306324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306324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30632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3063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063240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3063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99248" y="1417320"/>
            <a:ext cx="0" cy="310896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90434" y="1261872"/>
            <a:ext cx="217627" cy="217627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1728216"/>
            <a:ext cx="1865376" cy="1476756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84187" y="1976933"/>
            <a:ext cx="1430122" cy="9326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9538" y="2194560"/>
            <a:ext cx="217627" cy="27980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1330" y="2194560"/>
            <a:ext cx="217627" cy="279806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81621" y="2381098"/>
            <a:ext cx="435254" cy="341986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77456" y="2536546"/>
            <a:ext cx="186538" cy="124358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4502" y="2536546"/>
            <a:ext cx="186538" cy="124358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시간: 인공지능을 다시 살린 세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E8F1FA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직접 다뤄요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코랩에서 켜 봤어요 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325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3~7강에서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머신러닝은 데이터에서 규칙을 배워요. 그래서 데이터를 다룰 줄 알아야 합니다.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9016" y="3840480"/>
            <a:ext cx="0" cy="118872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7411" y="3781044"/>
            <a:ext cx="83210" cy="83210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3959352"/>
            <a:ext cx="713232" cy="564642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55610" y="4054450"/>
            <a:ext cx="546811" cy="35661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68539" y="4137660"/>
            <a:ext cx="83210" cy="10698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6283" y="4137660"/>
            <a:ext cx="83210" cy="10698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5806" y="4208983"/>
            <a:ext cx="166421" cy="130759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91272" y="4268419"/>
            <a:ext cx="71323" cy="47549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5437" y="4268419"/>
            <a:ext cx="71323" cy="47549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365일 × 13칸, 눈으로 볼 수 있을까요?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73736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3736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americano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28600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ice_amer…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83464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latte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38328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cheese…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931920" y="1280160"/>
            <a:ext cx="548640" cy="301752"/>
          </a:xfrm>
          <a:prstGeom prst="rect">
            <a:avLst/>
          </a:prstGeom>
          <a:solidFill>
            <a:srgbClr val="E9EEF5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128016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sandwich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4008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8872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8872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73736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3736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8600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8328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0" y="158191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31920" y="158191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18872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8872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3736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3736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8600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464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3464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38328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31920" y="188366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31920" y="188366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18872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8872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73736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28600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28600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83464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83464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38328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38328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31920" y="2185416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931920" y="2185416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4008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4008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18872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18872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73736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73736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28600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28600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83464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83464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38328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38328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931920" y="2487168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31920" y="2487168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4008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4008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-2.7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18872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8872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73736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28600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28600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83464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83464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338328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38328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931920" y="2788920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3931920" y="2788920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4008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008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4.7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18872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18872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173736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73736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28600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228600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283464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83464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38328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38328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931920" y="3090672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931920" y="3090672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64008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4008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18872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8872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173736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73736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28600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228600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283464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283464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338328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38328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931920" y="3392424"/>
            <a:ext cx="5486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931920" y="3392424"/>
            <a:ext cx="548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64008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아래로 358줄 더</a:t>
            </a:r>
            <a:endParaRPr lang="en-US" sz="1000" dirty="0"/>
          </a:p>
        </p:txBody>
      </p:sp>
      <p:sp>
        <p:nvSpPr>
          <p:cNvPr id="118" name="Text 116"/>
          <p:cNvSpPr txBox="1"/>
          <p:nvPr/>
        </p:nvSpPr>
        <p:spPr>
          <a:xfrm>
            <a:off x="493776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사장님의 질문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4937760" y="14630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120640" y="1463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더운 날, 정말 아이스가 더 팔릴까?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4937760" y="2121408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120640" y="21214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주말엔 어떤 메뉴가 잘 팔릴까?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4937760" y="2779776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20640" y="27797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혹시 비어 있는 칸은 없을까?</a:t>
            </a:r>
            <a:endParaRPr lang="en-US" sz="1300" dirty="0"/>
          </a:p>
        </p:txBody>
      </p:sp>
      <p:sp>
        <p:nvSpPr>
          <p:cNvPr id="125" name="Shape 123"/>
          <p:cNvSpPr/>
          <p:nvPr/>
        </p:nvSpPr>
        <p:spPr>
          <a:xfrm>
            <a:off x="4937760" y="356616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493776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몇 줄이면 바로 답이 나와요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세 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2529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2529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22529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11612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ml_kiosk_02.ipynb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426464"/>
            <a:ext cx="78638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주문 데이터를 불러와서, 머신러닝 모델에 넣을 모양으로 나눕니다.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486400" cy="502920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611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강의가 끝나면 이 세 줄이 읽힙니다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55864" y="3429000"/>
            <a:ext cx="0" cy="155448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1457" y="3351276"/>
            <a:ext cx="108814" cy="108814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3584448"/>
            <a:ext cx="932688" cy="738378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98334" y="3708806"/>
            <a:ext cx="715061" cy="4663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46009" y="3817620"/>
            <a:ext cx="108814" cy="139903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905" y="3817620"/>
            <a:ext cx="108814" cy="139903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47050" y="3910889"/>
            <a:ext cx="217627" cy="170993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44968" y="3988613"/>
            <a:ext cx="93269" cy="62179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3491" y="3988613"/>
            <a:ext cx="93269" cy="62179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로드맵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모양을 알고, NumPy와 Pandas로 다루고, 그래프로 본 다음, 학습할 모양으로 나눕니다.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데이터의 모양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머신러닝은 어떤 표를 좋아할까요?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데이터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행은 하루, 열은 특성, 맞힐 열은 정답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57400" y="1325880"/>
            <a:ext cx="2560320" cy="2148840"/>
          </a:xfrm>
          <a:prstGeom prst="rect">
            <a:avLst/>
          </a:prstGeom>
          <a:solidFill>
            <a:srgbClr val="E8F1FA"/>
          </a:solidFill>
          <a:ln w="19050">
            <a:solidFill>
              <a:srgbClr val="3776A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0" y="1325880"/>
            <a:ext cx="1508760" cy="2148840"/>
          </a:xfrm>
          <a:prstGeom prst="rect">
            <a:avLst/>
          </a:prstGeom>
          <a:solidFill>
            <a:srgbClr val="FFF6D1"/>
          </a:solidFill>
          <a:ln w="19050">
            <a:solidFill>
              <a:srgbClr val="E0B1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77240" y="2286000"/>
            <a:ext cx="5349240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463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463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1463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1463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weekday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463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ice_americano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470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2025-07-23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03120" y="18470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18470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184708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8470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2025-07-24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2231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231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749040" y="223113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2311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2615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2025-07-25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26151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26151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26151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금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6151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2999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2025-07-26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10312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749040" y="29992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토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29992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05740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(X)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0" y="3520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(y)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8288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= 하루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132588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(행)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1655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한 건. 여기선 하루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2075688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37960" y="2121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(X)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37960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맞히는 데 쓰는 단서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2825496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37960" y="2871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(y)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53796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맞히고 싶은 값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X를 보고 y를 맞히는 규칙을 배우는 것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머신러닝 (지도학습)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데이터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데이터: kiosk_sales.csv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하루의 상황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3258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7556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17556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17556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~ 12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85416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1854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weekday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18541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요일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1854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 ~ 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15184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6151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011680" y="26151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최고기온(℃)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61518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44952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0449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011680" y="304495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 (1 = 옴)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0449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397764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cake_soldout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011680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케이크 품절 (1 = 품절)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4747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판매량 (잔 · 개)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32588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13258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americano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13258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아메리카노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169164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1691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ice_americano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16916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 아메리카노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205740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2057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latte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2057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카페라테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242316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24231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oat_latte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0" y="2423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오트라테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278892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0" y="2788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cheesecake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2788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치즈케이크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15468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46320" y="3154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sandwich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0" y="31546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샌드위치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09160" y="3520440"/>
            <a:ext cx="3977640" cy="310896"/>
          </a:xfrm>
          <a:prstGeom prst="roundRect">
            <a:avLst>
              <a:gd name="adj" fmla="val 2941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46320" y="3520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fruit_cup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675120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과일컵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코드에서는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열 이름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쓰고, 그래프에는 한글 이름을 붙여요. 파이썬 3강 메뉴 그대로예요.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= 숫자 계산 도구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여러 개를 한 번에 계산합니다.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리스트에 2를 곱하면?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97026"/>
          </a:xfrm>
          <a:prstGeom prst="roundRect">
            <a:avLst>
              <a:gd name="adj" fmla="val 1019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아메리카노, 카페라테, 치즈케이크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리스트는 파이썬 1강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리스트에 2를 곱하면?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97026"/>
          </a:xfrm>
          <a:prstGeom prst="roundRect">
            <a:avLst>
              <a:gd name="adj" fmla="val 1019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아메리카노, 카페라테, 치즈케이크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리스트는 파이썬 1강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08574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15889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36006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[2000, 3000, 4500, 2000, 3000, 4500]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908706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90870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가격이 두 배가 되는 게 아니라 </a:t>
            </a:r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장바구니가 두 번 반복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돼요. 리스트는 계산용이 아니에요.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배열: 한 번에 계산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1776679"/>
          </a:xfrm>
          <a:prstGeom prst="roundRect">
            <a:avLst>
              <a:gd name="adj" fmla="val 514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135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모두 두 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모두 500원 인상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526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for문은 파이썬 2강-1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배열: 한 번에 계산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1776679"/>
          </a:xfrm>
          <a:prstGeom prst="roundRect">
            <a:avLst>
              <a:gd name="adj" fmla="val 514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135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모두 두 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모두 500원 인상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526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for문은 파이썬 2강-1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06440" y="1051560"/>
            <a:ext cx="2880360" cy="1143000"/>
          </a:xfrm>
          <a:prstGeom prst="roundRect">
            <a:avLst>
              <a:gd name="adj" fmla="val 64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325880"/>
            <a:ext cx="2606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[4000 6000 9000]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[2500 3500 5000]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9500 4500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06440" y="2377440"/>
            <a:ext cx="2880360" cy="1280160"/>
          </a:xfrm>
          <a:prstGeom prst="roundRect">
            <a:avLst>
              <a:gd name="adj" fmla="val 7143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242316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리스트를 계산용 배열로 바꿔요. 계산이 칸마다 한 번에 적용돼요.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 없이 한 줄로 전부 계산!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배열: 날짜 × 메뉴 판매표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1725930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1305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메뉴별 합계 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날짜별 합계 →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2차원 배열: 날짜 × 메뉴 판매표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5120640" cy="1725930"/>
          </a:xfrm>
          <a:prstGeom prst="roundRect">
            <a:avLst>
              <a:gd name="adj" fmla="val 529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754880" cy="1305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메뉴별 합계 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axis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날짜별 합계 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17520"/>
            <a:ext cx="48463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[ 93 105  47]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[87 78 80]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아메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라테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14173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14173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69480" y="14173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1417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18745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0644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18745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69480" y="18745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9480" y="1874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06440" y="23317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0644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23317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3796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269480" y="2331720"/>
            <a:ext cx="731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69480" y="2331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903720" y="2834640"/>
            <a:ext cx="0" cy="32004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80644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axis=0 ↓ 메뉴별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46720" y="2103120"/>
            <a:ext cx="274320" cy="0"/>
          </a:xfrm>
          <a:prstGeom prst="line">
            <a:avLst/>
          </a:prstGeom>
          <a:noFill/>
          <a:ln w="22225">
            <a:solidFill>
              <a:srgbClr val="E5484D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001000" y="2286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axis=1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580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(행, 열).  3일 × 3메뉴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NumPy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중요할까요? 사진도 숫자 배열이에요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6464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19072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96896" y="114300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43560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19072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11680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143560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96896" y="143560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172821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33856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26464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9072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0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04288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96896" y="1728216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020824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33856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6464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19072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0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04288" y="2020824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96896" y="2020824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2313432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3856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6464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19072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011680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04288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96896" y="2313432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260604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1248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33856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26464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19072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11680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04288" y="2606040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96896" y="2606040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289864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" y="289864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33856" y="289864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26464" y="289864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719072" y="289864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11680" y="2898648"/>
            <a:ext cx="292608" cy="292608"/>
          </a:xfrm>
          <a:prstGeom prst="rect">
            <a:avLst/>
          </a:prstGeom>
          <a:solidFill>
            <a:srgbClr val="8B5E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04288" y="289864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96896" y="2898648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33856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26464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719072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011680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04288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596896" y="3191256"/>
            <a:ext cx="292608" cy="292608"/>
          </a:xfrm>
          <a:prstGeom prst="rect">
            <a:avLst/>
          </a:prstGeom>
          <a:solidFill>
            <a:srgbClr val="F6F1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8640" y="35661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컵 사진 (8 × 8)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063240" y="2286000"/>
            <a:ext cx="50292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3703320" y="1143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245 245 245 245 245 245 245 245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3703320" y="14356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245  90  90  90  90  90  90 245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3703320" y="17282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245  90  90  90  90  90  90  90</a:t>
            </a:r>
            <a:endParaRPr lang="en-US" sz="1050" dirty="0"/>
          </a:p>
        </p:txBody>
      </p:sp>
      <p:sp>
        <p:nvSpPr>
          <p:cNvPr id="75" name="Text 73"/>
          <p:cNvSpPr txBox="1"/>
          <p:nvPr/>
        </p:nvSpPr>
        <p:spPr>
          <a:xfrm>
            <a:off x="3703320" y="2020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245  90  90  90  90  90 245  90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3703320" y="2313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245  90  90  90  90  90  90  90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3703320" y="2606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245  90  90  90  90  90  90 245</a:t>
            </a:r>
            <a:endParaRPr lang="en-US" sz="1050" dirty="0"/>
          </a:p>
        </p:txBody>
      </p:sp>
      <p:sp>
        <p:nvSpPr>
          <p:cNvPr id="78" name="Text 76"/>
          <p:cNvSpPr txBox="1"/>
          <p:nvPr/>
        </p:nvSpPr>
        <p:spPr>
          <a:xfrm>
            <a:off x="3703320" y="2898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245 245  90  90  90  90 245 245</a:t>
            </a:r>
            <a:endParaRPr lang="en-US" sz="1050" dirty="0"/>
          </a:p>
        </p:txBody>
      </p:sp>
      <p:sp>
        <p:nvSpPr>
          <p:cNvPr id="79" name="Text 77"/>
          <p:cNvSpPr txBox="1"/>
          <p:nvPr/>
        </p:nvSpPr>
        <p:spPr>
          <a:xfrm>
            <a:off x="3703320" y="3191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245 245 245 245 245 245 245 245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370332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검정 ~ 255 = 흰색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812280" y="114300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49440" y="1280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텐서</a:t>
            </a:r>
            <a:endParaRPr lang="en-US" sz="2000" dirty="0"/>
          </a:p>
        </p:txBody>
      </p:sp>
      <p:sp>
        <p:nvSpPr>
          <p:cNvPr id="83" name="Text 81"/>
          <p:cNvSpPr txBox="1"/>
          <p:nvPr/>
        </p:nvSpPr>
        <p:spPr>
          <a:xfrm>
            <a:off x="69494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4강부터 쓰는 PyTorch의 텐서도 결국 이런 숫자 배열이에요.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 w="12700">
            <a:solidFill>
              <a:srgbClr val="2B5B8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컴퓨터는 사진도, 소리도, 글자도 숫자 배열로 봐요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 = 파이썬 속 엑셀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붙은 열로 표를 다룹니다.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주문 불러오기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URL은 실습 준비 셀에 있어요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치 주문 불러오기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URL은 실습 준비 셀에 있어요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(365, 13)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365일 × 13열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0906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310128"/>
          <a:ext cx="8010144" cy="914400"/>
        </p:xfrm>
        <a:graphic>
          <a:graphicData uri="http://schemas.openxmlformats.org/drawingml/2006/table">
            <a:tbl>
              <a:tblPr/>
              <a:tblGrid>
                <a:gridCol w="75895"/>
                <a:gridCol w="755294"/>
                <a:gridCol w="377647"/>
                <a:gridCol w="528523"/>
                <a:gridCol w="302666"/>
                <a:gridCol w="302666"/>
                <a:gridCol w="680314"/>
                <a:gridCol w="982066"/>
                <a:gridCol w="377647"/>
                <a:gridCol w="680314"/>
                <a:gridCol w="755294"/>
                <a:gridCol w="604418"/>
                <a:gridCol w="680314"/>
                <a:gridCol w="907085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month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weekday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rain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americano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ice_americano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oat_latte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cheesecake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sandwich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fruit_cup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cake_soldout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2025-01-01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수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-1.9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2025-01-02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목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2025-01-03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금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2025-01-04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토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2025-01-05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일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-2.7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꺼내기와 요약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97026"/>
          </a:xfrm>
          <a:prstGeom prst="roundRect">
            <a:avLst>
              <a:gd name="adj" fmla="val 1019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하루 평균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딕셔너리는 파이썬 1강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꺼내기와 요약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97026"/>
          </a:xfrm>
          <a:prstGeom prst="roundRect">
            <a:avLst>
              <a:gd name="adj" fmla="val 1019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하루 평균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딕셔너리는 파이썬 1강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085746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15889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360066"/>
            <a:ext cx="3931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46.3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 362.000000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   16.481492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    -2.700000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   37.900000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561234"/>
            <a:ext cx="201168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085746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08574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df["열 이름"]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메뉴판처럼 이름으로 꺼내요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37760" y="3045866"/>
            <a:ext cx="3749040" cy="822960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66360" y="304586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count가 </a:t>
            </a:r>
            <a:pPr indent="0" marL="0">
              <a:buNone/>
            </a:pPr>
            <a:r>
              <a:rPr lang="en-US" sz="13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362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365일인데 3일이 비어 있어요!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빈칸(결측치) 찾고 채우기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336853"/>
          </a:xfrm>
          <a:prstGeom prst="roundRect">
            <a:avLst>
              <a:gd name="adj" fmla="val 684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91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빈칸 개수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앞뒤 날 사이 값으로 채우기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빈칸(결측치) 찾고 채우기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336853"/>
          </a:xfrm>
          <a:prstGeom prst="roundRect">
            <a:avLst>
              <a:gd name="adj" fmla="val 684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916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빈칸 개수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interpolate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앞뒤 날 사이 값으로 채우기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isna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25573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9872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799893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108960" y="2525573"/>
            <a:ext cx="5577840" cy="1316736"/>
          </a:xfrm>
          <a:prstGeom prst="roundRect">
            <a:avLst>
              <a:gd name="adj" fmla="val 55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46120" y="2598725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18688" y="2818181"/>
          <a:ext cx="5358384" cy="914400"/>
        </p:xfrm>
        <a:graphic>
          <a:graphicData uri="http://schemas.openxmlformats.org/drawingml/2006/table">
            <a:tbl>
              <a:tblPr/>
              <a:tblGrid>
                <a:gridCol w="1786128"/>
                <a:gridCol w="1786128"/>
                <a:gridCol w="178612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 (전)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 (후)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2025-02-16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2025-02-17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2025-02-18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5484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데이터에는 늘 구멍이 있어요. 비어 있으면 학습할 수 없어서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채우거나 지워요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조건으로 고르기: 더운 날만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6766"/>
          </a:xfrm>
          <a:prstGeom prst="roundRect">
            <a:avLst>
              <a:gd name="adj" fmla="val 587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30도 이상인 날만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더운 날 평균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평균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연산자는 파이썬 2강-1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조건으로 고르기: 더운 날만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6766"/>
          </a:xfrm>
          <a:prstGeom prst="roundRect">
            <a:avLst>
              <a:gd name="adj" fmla="val 587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30도 이상인 날만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더운 날 평균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 평균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2103120" cy="256032"/>
          </a:xfrm>
          <a:prstGeom prst="roundRect">
            <a:avLst>
              <a:gd name="adj" fmla="val 50000"/>
            </a:avLst>
          </a:prstGeom>
          <a:solidFill>
            <a:srgbClr val="FFF6D1"/>
          </a:solidFill>
          <a:ln w="12700">
            <a:solidFill>
              <a:srgbClr val="FFD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663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연산자는 파이썬 2강-1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4548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1863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019806"/>
            <a:ext cx="24688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46.3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83692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더운 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882646"/>
            <a:ext cx="3291840" cy="2743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83692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80.4잔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29412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339846"/>
            <a:ext cx="1895674" cy="274320"/>
          </a:xfrm>
          <a:prstGeom prst="rect">
            <a:avLst/>
          </a:prstGeom>
          <a:solidFill>
            <a:srgbClr val="C7DCF0"/>
          </a:solidFill>
          <a:ln w="127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59114" y="329412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46.3잔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더운 날은 아이스 아메리카노가 </a:t>
            </a:r>
            <a:pPr indent="0" marL="0">
              <a:buNone/>
            </a:pPr>
            <a:r>
              <a:rPr lang="en-US" sz="135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1.7배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팔려요. 첫 번째 질문 해결!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평균: 주말엔 뭐가 잘 팔릴까?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80110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"weekend"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"weekday"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"토"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"일"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새 열 만들기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"weekend"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"latte"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"cheesecake"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Pandas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그룹별 평균: 주말엔 뭐가 잘 팔릴까?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880110"/>
          </a:xfrm>
          <a:prstGeom prst="roundRect">
            <a:avLst>
              <a:gd name="adj" fmla="val 1039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"weekend"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"weekday"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"토"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"일"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새 열 만들기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"weekend"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"latte"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"cheesecake"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068830"/>
            <a:ext cx="4023360" cy="1316736"/>
          </a:xfrm>
          <a:prstGeom prst="roundRect">
            <a:avLst>
              <a:gd name="adj" fmla="val 55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14198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361438"/>
          <a:ext cx="3803904" cy="914400"/>
        </p:xfrm>
        <a:graphic>
          <a:graphicData uri="http://schemas.openxmlformats.org/drawingml/2006/table">
            <a:tbl>
              <a:tblPr/>
              <a:tblGrid>
                <a:gridCol w="1267968"/>
                <a:gridCol w="1267968"/>
                <a:gridCol w="126796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weekend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cheesecake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40.6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11.3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754880" y="2068830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37760" y="206883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출근길 카페라테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2690622"/>
            <a:ext cx="3931920" cy="530352"/>
          </a:xfrm>
          <a:prstGeom prst="roundRect">
            <a:avLst>
              <a:gd name="adj" fmla="val 1724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269062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 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디저트 치즈케이크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같은 값끼리 묶어서 계산.  두 번째 질문 해결!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그래프로 보기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숫자보다 그림이 빨라요.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1년 판매량: 막대그래프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menu_cols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메뉴별 1년 합계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"bar"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"메뉴별 1년 판매량"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메뉴별 1년 판매량: 막대그래프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menu_cols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메뉴별 1년 합계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"bar"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"메뉴별 1년 판매량"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105156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pic>
        <p:nvPicPr>
          <p:cNvPr id="15" name="Image 0" descr="/home/claude/ml/out/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25880"/>
            <a:ext cx="3017520" cy="22631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265176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697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menu_cols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메뉴 열 이름 목록
</a:t>
            </a:r>
            <a:pPr indent="0" marL="0">
              <a:buNone/>
            </a:pPr>
            <a:r>
              <a:rPr lang="en-US" sz="11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영어 → 한글 이름표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실습 준비 셀에 들어 있어요.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1등은 </a:t>
            </a:r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 아메리카노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그래프 한글 깨짐은 준비 셀의 koreanize-matplotlib가 막아 줘요.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기온과 아이스 아메리카노: 산점도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"scatter"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"최고기온(℃)"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"아이스 아메리카노(잔)"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기온과 아이스 아메리카노: 산점도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"scatter"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"최고기온(℃)"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"아이스 아메리카노(잔)"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105156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pic>
        <p:nvPicPr>
          <p:cNvPr id="15" name="Image 0" descr="/home/claude/ml/out/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25880"/>
            <a:ext cx="3017520" cy="22631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265176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697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하나 = 하루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기온이 오를수록 점이 오른쪽 위로 올라가요. 기온과 판매량이 함께 움직여요.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선을 하나 그으면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내일 판매량을 예측할 수 있지 않을까요?  → 3강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 월별 판매 추이: 선 그래프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"월별 아이스 아메리카노"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그래프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[선택] 월별 판매 추이: 선 그래프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43891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"month"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marker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"월별 아이스 아메리카노"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1051560"/>
            <a:ext cx="3291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124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pic>
        <p:nvPicPr>
          <p:cNvPr id="15" name="Image 0" descr="/home/claude/ml/out/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25880"/>
            <a:ext cx="3017520" cy="22631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2651760"/>
            <a:ext cx="4754880" cy="1097280"/>
          </a:xfrm>
          <a:prstGeom prst="roundRect">
            <a:avLst>
              <a:gd name="adj" fmla="val 833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여름에 솟고 겨울에 내려가요. 시간에 따라 변하는 데이터를 시계열이라고 해요.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6D1"/>
          </a:solidFill>
          <a:ln w="12700">
            <a:solidFill>
              <a:srgbClr val="FFF6D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977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판매량 예측 → </a:t>
            </a:r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 LSTM</a:t>
            </a:r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발주량 계산까지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05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 준비: X와 y 나누기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넣을 모양으로 나눕니다.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926080"/>
            <a:ext cx="6949440" cy="0"/>
          </a:xfrm>
          <a:prstGeom prst="line">
            <a:avLst/>
          </a:prstGeom>
          <a:noFill/>
          <a:ln w="38100">
            <a:solidFill>
              <a:srgbClr val="C7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모양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계산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548640" cy="548640"/>
          </a:xfrm>
          <a:prstGeom prst="ellipse">
            <a:avLst/>
          </a:prstGeom>
          <a:solidFill>
            <a:srgbClr val="C7DCF0"/>
          </a:solidFill>
          <a:ln w="25400">
            <a:solidFill>
              <a:srgbClr val="C7DC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눈으로 보기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B5B84"/>
          </a:solidFill>
          <a:ln w="25400">
            <a:solidFill>
              <a:srgbClr val="2B5B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638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337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준비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X와 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특성(X)과 정답(y) 나누기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6766"/>
          </a:xfrm>
          <a:prstGeom prst="roundRect">
            <a:avLst>
              <a:gd name="adj" fmla="val 587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특성: 대괄호 두 겹 → 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정답: 대괄호 한 겹 → 열 하나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X와 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263640" y="3840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63640" y="3840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특성(X)과 정답(y) 나누기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8229600" cy="1556766"/>
          </a:xfrm>
          <a:prstGeom prst="roundRect">
            <a:avLst>
              <a:gd name="adj" fmla="val 587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380744"/>
            <a:ext cx="7863840" cy="113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특성: 대괄호 두 겹 → 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정답: 대괄호 한 겹 → 열 하나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5486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81863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01980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(365, 2) (365,)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3522726"/>
            <a:ext cx="3657600" cy="1389888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59587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15334"/>
          <a:ext cx="3438144" cy="914400"/>
        </p:xfrm>
        <a:graphic>
          <a:graphicData uri="http://schemas.openxmlformats.org/drawingml/2006/table">
            <a:tbl>
              <a:tblPr/>
              <a:tblGrid>
                <a:gridCol w="1146048"/>
                <a:gridCol w="1146048"/>
                <a:gridCol w="1146048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temp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-1.9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389120" y="2745486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0" y="2836926"/>
            <a:ext cx="4023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5B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365일 × 2개 단서 (기온, 비)
</a:t>
            </a:r>
            <a:pPr indent="0" marL="0">
              <a:buNone/>
            </a:pPr>
            <a:r>
              <a:rPr lang="en-US" sz="1250" b="1" dirty="0">
                <a:solidFill>
                  <a:srgbClr val="8A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365일의 아이스 아메리카노 판매량
</a:t>
            </a:r>
            <a:pPr indent="0" marL="0">
              <a:buNone/>
            </a:pPr>
            <a:r>
              <a:rPr lang="en-US" sz="125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X는 대문자(표), y는 소문자(열 하나)로 쓰는 게 관례예요.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X와 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읽히죠?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937760" cy="173736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17957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17957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117957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80744"/>
            <a:ext cx="45720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"ice_americano"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1년 치 표를 불러와서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9933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단서(특성)와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정답으로 나눴다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8F1FA"/>
          </a:solidFill>
          <a:ln w="15875">
            <a:solidFill>
              <a:srgbClr val="E8F1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5468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· 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3584448"/>
            <a:ext cx="54864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17520" y="31546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B5B84"/>
          </a:solidFill>
          <a:ln w="15875">
            <a:solidFill>
              <a:srgbClr val="2B5B8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3154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80560" y="3584448"/>
            <a:ext cx="548640" cy="0"/>
          </a:xfrm>
          <a:prstGeom prst="line">
            <a:avLst/>
          </a:prstGeom>
          <a:noFill/>
          <a:ln w="22225">
            <a:solidFill>
              <a:srgbClr val="3776A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0640" y="31546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6D1"/>
          </a:solidFill>
          <a:ln w="15875">
            <a:solidFill>
              <a:srgbClr val="FFF6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3154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판매량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1546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3강에서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상자를 채워요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한 장 요약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모양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776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 · 특성 · 정답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 = 하루, X = 단서, y = 맞힐 값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배열은 한 번에 계산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53212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np.array, shape, sum(axis=0)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Pandas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다루기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read_csv, isna, df[조건], groupby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532120" y="2880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· 준비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53212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548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나누기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5532120" y="3630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plot(kind=...), X = df[[...]]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21040" y="4800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60920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60920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복습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미션: 따뜻한 아메리카노는?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2강 노트 맨 아래 미션 셀에 입력해 보세요.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36245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6245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36245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563624"/>
            <a:ext cx="4846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비 오는 날과 안 오는 날의 아메리카노 평균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"rain"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"americano"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기온과 아메리카노 산점도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"scatter"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"americano"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"최고기온(℃)"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"아메리카노(잔)"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97880" y="914400"/>
            <a:ext cx="2788920" cy="978408"/>
          </a:xfrm>
          <a:prstGeom prst="roundRect">
            <a:avLst>
              <a:gd name="adj" fmla="val 7477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9875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1188720"/>
            <a:ext cx="2514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0    41.0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1    36.8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1984248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9842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나오면 성공!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2487168"/>
            <a:ext cx="2788920" cy="2267712"/>
          </a:xfrm>
          <a:prstGeom prst="roundRect">
            <a:avLst>
              <a:gd name="adj" fmla="val 4032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5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3강 전에, 이것만은 꼭!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29900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2944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결측치를 채운 뒤 실행했나요?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3192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273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아이스와 반대 모양인가요?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36484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776A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36027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X와 y의 뜻을 말할 수 있나요?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47472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" y="35478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00" dirty="0"/>
          </a:p>
        </p:txBody>
      </p:sp>
      <p:pic>
        <p:nvPicPr>
          <p:cNvPr id="28" name="Image 0" descr="/home/claude/ml/out/mi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3749040"/>
            <a:ext cx="1280160" cy="96012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79476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9D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아래로 내려가면 성공!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5B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· 3강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머신러닝: 선 하나로 내일을 예측하기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나눈 X와 y로 scikit-learn 모델을 학습시켜요.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420624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48256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48256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048256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249424"/>
            <a:ext cx="38404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32도, 맑음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9202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지도학습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· 분류로 판매량과 품절 예측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97180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3A6C97"/>
          </a:solidFill>
          <a:ln w="12700">
            <a:solidFill>
              <a:srgbClr val="3A6C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비지도학습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군집으로 손님 유형 나누기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구독과 좋아요 부탁드려요. 3강에서 만나요!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47304" y="4069080"/>
            <a:ext cx="0" cy="109728"/>
          </a:xfrm>
          <a:prstGeom prst="line">
            <a:avLst/>
          </a:prstGeom>
          <a:noFill/>
          <a:ln w="25400">
            <a:solidFill>
              <a:srgbClr val="5B67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8899" y="4014216"/>
            <a:ext cx="76810" cy="76810"/>
          </a:xfrm>
          <a:prstGeom prst="ellipse">
            <a:avLst/>
          </a:prstGeom>
          <a:solidFill>
            <a:srgbClr val="FFD43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178808"/>
            <a:ext cx="658368" cy="521208"/>
          </a:xfrm>
          <a:prstGeom prst="roundRect">
            <a:avLst>
              <a:gd name="adj" fmla="val 26316"/>
            </a:avLst>
          </a:prstGeom>
          <a:solidFill>
            <a:srgbClr val="3776AB"/>
          </a:solidFill>
          <a:ln w="19050">
            <a:solidFill>
              <a:srgbClr val="2B5B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94930" y="4266590"/>
            <a:ext cx="504749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9171" y="434340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8627" y="4343400"/>
            <a:ext cx="76810" cy="98755"/>
          </a:xfrm>
          <a:prstGeom prst="ellipse">
            <a:avLst/>
          </a:prstGeom>
          <a:solidFill>
            <a:srgbClr val="1F2A37"/>
          </a:solidFill>
          <a:ln w="12700">
            <a:solidFill>
              <a:srgbClr val="1F2A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0494" y="4409237"/>
            <a:ext cx="153619" cy="120701"/>
          </a:xfrm>
          <a:prstGeom prst="arc">
            <a:avLst>
              <a:gd name="adj1" fmla="val 1200000"/>
              <a:gd name="adj2" fmla="val 960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7848" y="446410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0923" y="4464101"/>
            <a:ext cx="65837" cy="43891"/>
          </a:xfrm>
          <a:prstGeom prst="ellipse">
            <a:avLst/>
          </a:prstGeom>
          <a:solidFill>
            <a:srgbClr val="FFB4B4"/>
          </a:solidFill>
          <a:ln w="12700">
            <a:solidFill>
              <a:srgbClr val="FFB4B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2강. 머신러닝 데이터 기초</dc:title>
  <dc:subject>PptxGenJS Presentation</dc:subject>
  <dc:creator>PptxGenJS</dc:creator>
  <cp:lastModifiedBy>PptxGenJS</cp:lastModifiedBy>
  <cp:revision>1</cp:revision>
  <dcterms:created xsi:type="dcterms:W3CDTF">2026-10-16T18:36:04Z</dcterms:created>
  <dcterms:modified xsi:type="dcterms:W3CDTF">2026-10-16T18:36:04Z</dcterms:modified>
</cp:coreProperties>
</file>