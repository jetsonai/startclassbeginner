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기대</c:v>
                </c:pt>
              </c:strCache>
            </c:strRef>
          </c:tx>
          <c:spPr>
            <a:solidFill>
              <a:srgbClr val="3776AB"/>
            </a:solidFill>
            <a:ln w="38100" cap="flat">
              <a:solidFill>
                <a:srgbClr val="377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776AB"/>
              </a:solidFill>
              <a:ln w="9525" cap="flat">
                <a:solidFill>
                  <a:srgbClr val="377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1950</c:v>
                  </c:pt>
                  <c:pt idx="1">
                    <c:v>1956</c:v>
                  </c:pt>
                  <c:pt idx="2">
                    <c:v>1965</c:v>
                  </c:pt>
                  <c:pt idx="3">
                    <c:v>1974</c:v>
                  </c:pt>
                  <c:pt idx="4">
                    <c:v>1980</c:v>
                  </c:pt>
                  <c:pt idx="5">
                    <c:v>1987</c:v>
                  </c:pt>
                  <c:pt idx="6">
                    <c:v>1995</c:v>
                  </c:pt>
                  <c:pt idx="7">
                    <c:v>2006</c:v>
                  </c:pt>
                  <c:pt idx="8">
                    <c:v>2012</c:v>
                  </c:pt>
                  <c:pt idx="9">
                    <c:v>2016</c:v>
                  </c:pt>
                  <c:pt idx="10">
                    <c:v>2022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1.2</c:v>
                </c:pt>
                <c:pt idx="4">
                  <c:v>3.2</c:v>
                </c:pt>
                <c:pt idx="5">
                  <c:v>1</c:v>
                </c:pt>
                <c:pt idx="6">
                  <c:v>1.6</c:v>
                </c:pt>
                <c:pt idx="7">
                  <c:v>2.6</c:v>
                </c:pt>
                <c:pt idx="8">
                  <c:v>4.2</c:v>
                </c:pt>
                <c:pt idx="9">
                  <c:v>4.8</c:v>
                </c:pt>
                <c:pt idx="10">
                  <c:v>5.6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7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778"/>
                </a:solidFill>
                <a:latin typeface="Arial"/>
              </a:rPr>
              <a:t>ImageNet 대회 우승팀 오류율(Top-5,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오류율(%)</c:v>
                </c:pt>
              </c:strCache>
            </c:strRef>
          </c:tx>
          <c:spPr>
            <a:solidFill>
              <a:srgbClr val="C7DC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DC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DC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76A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776A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776A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
AlexNet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28.2</c:v>
                </c:pt>
                <c:pt idx="1">
                  <c:v>25.8</c:v>
                </c:pt>
                <c:pt idx="2">
                  <c:v>16.4</c:v>
                </c:pt>
                <c:pt idx="3">
                  <c:v>11.7</c:v>
                </c:pt>
                <c:pt idx="4">
                  <c:v>6.7</c:v>
                </c:pt>
                <c:pt idx="5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+ 이 강좌는 파이썬 카페 키오스크 데이터로 머신러닝·딥러닝을 직접 만들어 보는 강좌.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1년 치 주문 데이터. 사장님 질문 세 개 → 이 강좌에서 하나씩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강좌 전체 결과물 미리보기. 강의마다 하나씩 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7강 구성. 1~2강 준비, 3강 머신러닝, 4~7강 딥러닝. 파이썬은 파이썬 강좌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→ 실습 노트 → 정답 노트. 노트 위치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단어는 포함 관계. 머신러닝은 3강, 딥러닝은 4~7강.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프로그래밍: 사람이 규칙을 쓴다. 머신러닝: 데이터와 답을 주면 규칙을 찾는다.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기대와 실망의 반복. 이제 연도 순서로 따라가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1950년 튜링의 질문과 튜링 테스트.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[선택] 1956 다트머스, AI라는 단어 탄생.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퍼셉트론: 입력 × 가중치의 합 → 기준을 넘으면 1. 4강에서 직접.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XOR: 직선 하나로 못 나눔 → 첫 번째 겨울. (해결책인 여러 층은 4강)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규칙을 다 쓰는 방식의 한계 → 두 번째 겨울 → 머신러닝으로.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1986 역전파(러멜하트·힌턴·윌리엄스). 틀린 만큼 거꾸로 고친다.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르쿤의 LeNet. 손글씨 인식 → CNN의 시작 → 5강.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AlexNet, GPU로 학습한 딥러닝이 대회 압승 → 딥러닝 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1997 딥블루(규칙+탐색) vs 2016 알파고(학습). 이세돌 9단 4:1.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트랜스포머 → 언어 모델 → 2022 ChatGPT. 7강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 튜링상, 2024 노벨 물리학상·화학상.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데이터·GPU·알고리즘. GPU는 지금 코랩에서.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→ Open in Colab → Drive에 사본 저장 → 위에서부터 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런타임 → 런타임 유형 변경 → T4 GPU → 저장. 무료 사용량 제한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[Colab 전환] 실습 노트 S? 셀 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True면 성공. 필요한 도구는 이미 설치되어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[Colab 전환] !nvidia-smi 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이름과 메모리 확인. 출력 모양은 조금 달라도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[선택] 코드를 이해하기보다 결과 숫자 비교에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딥러닝이 GPU에서 학습하는 이유.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내용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미션: GPU 켜고 True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2강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개발자를 위한 머신러닝·딥러닝 기초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1강. 인공지능의 역사와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 시작하기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키오스크가 똑똑해지기까지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6118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소개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36118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3611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역사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361188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36118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3611880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36118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99248" y="1417320"/>
            <a:ext cx="0" cy="310896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0434" y="1261872"/>
            <a:ext cx="217627" cy="217627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728216"/>
            <a:ext cx="1865376" cy="1476756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4187" y="1976933"/>
            <a:ext cx="1430122" cy="9326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9538" y="2194560"/>
            <a:ext cx="217627" cy="27980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1330" y="2194560"/>
            <a:ext cx="217627" cy="27980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1621" y="2381098"/>
            <a:ext cx="435254" cy="341986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2536546"/>
            <a:ext cx="186538" cy="124358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4502" y="2536546"/>
            <a:ext cx="186538" cy="124358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키오스크에 1년 치 주문이 쌓였어요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kiosk_sales.csv · 365줄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383280" cy="914400"/>
        </p:xfrm>
        <a:graphic>
          <a:graphicData uri="http://schemas.openxmlformats.org/drawingml/2006/table">
            <a:tbl>
              <a:tblPr/>
              <a:tblGrid>
                <a:gridCol w="676656"/>
                <a:gridCol w="676656"/>
                <a:gridCol w="676656"/>
                <a:gridCol w="676656"/>
                <a:gridCol w="67665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날짜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기온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비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아이스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케이크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07-25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12-31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사장님의 질문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4630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아이스 아메리카노, 몇 잔 팔릴까?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09560" y="16184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16184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1488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21488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치즈케이크, 품절될까?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09560" y="23042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23042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28346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2834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우유는 얼마나 주문하지?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09560" y="29900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09560" y="29900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365760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이 질문에 답하는 것 = 인공지능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74152" y="4160520"/>
            <a:ext cx="0" cy="100584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38948" y="4110228"/>
            <a:ext cx="70409" cy="70409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0" y="4261104"/>
            <a:ext cx="603504" cy="477774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42809" y="4341571"/>
            <a:ext cx="462686" cy="3017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38364" y="4411980"/>
            <a:ext cx="70409" cy="9052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39532" y="4411980"/>
            <a:ext cx="70409" cy="9052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03743" y="4472330"/>
            <a:ext cx="140818" cy="110642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72984" y="4522622"/>
            <a:ext cx="60350" cy="40234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14970" y="4522622"/>
            <a:ext cx="60350" cy="40234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강좌에서 직접 만들 다섯 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판매량 예측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기온을 넣으면 내일 아이스 아메리카노 몇 잔?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11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1408" y="114300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E8F1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12801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58568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품절 예측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2286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요일·날씨로 치즈케이크 품절 미리 알기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258568" y="3611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85616" y="114300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22776" y="12801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22776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반납대 컵 세기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22776" y="2286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카메라로 컵을 세서 5개 넘으면 직원 호출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22776" y="3611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114300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E8F1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86984" y="12801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86984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586984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발주량 계산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86984" y="2286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메뉴별 판매를 예측해 재료 주문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586984" y="3611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14032" y="114300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51192" y="12801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51192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7강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주문하기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251192" y="2286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횡설수설 음성 주문 → 깔끔한 주문서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251192" y="3611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5943600" cy="438912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2519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같은 파이썬 카페 키오스크 데이터로 만듭니다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지도: 7강 구성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74066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48640" cy="54864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· 코랩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1417320"/>
            <a:ext cx="548640" cy="5486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· Pandas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90672" y="1417320"/>
            <a:ext cx="548640" cy="5486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52344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52344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06824" y="1417320"/>
            <a:ext cx="548640" cy="5486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0682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968496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68496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22976" y="1417320"/>
            <a:ext cx="548640" cy="5486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229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184648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84648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YOLO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39128" y="1417320"/>
            <a:ext cx="548640" cy="5486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391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· LSTM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1417320"/>
            <a:ext cx="548640" cy="5486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616952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616952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· LLM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01752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364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1~2강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108960" y="30175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91840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074920" y="301752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578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25780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4~7강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파이썬이 처음이라면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「AI 개발자를 위한 파이썬 기초」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먼저! 슬라이드의 </a:t>
            </a:r>
            <a:pPr indent="0" marL="0">
              <a:buNone/>
            </a:pPr>
            <a:r>
              <a:rPr lang="en-US" sz="12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N강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표시를 따라가면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공부하세요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보기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슬라이드로 개념과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먼저 봐요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63240" y="2331720"/>
            <a:ext cx="182880" cy="0"/>
          </a:xfrm>
          <a:prstGeom prst="line">
            <a:avLst/>
          </a:prstGeom>
          <a:noFill/>
          <a:ln w="25400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8F1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실습 노트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514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칸에 코드를 직접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입력하고 실행해요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97880" y="2331720"/>
            <a:ext cx="182880" cy="0"/>
          </a:xfrm>
          <a:prstGeom prst="line">
            <a:avLst/>
          </a:prstGeom>
          <a:noFill/>
          <a:ln w="25400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463040"/>
            <a:ext cx="457200" cy="45720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노트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514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_answer 노트로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확인해요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노트는 GitHub 「jetsonai / StartClassBeginner」 → MachineLearning 폴더에 있어요.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3977640"/>
            <a:ext cx="0" cy="109728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3179" y="3922776"/>
            <a:ext cx="76810" cy="76810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4087368"/>
            <a:ext cx="658368" cy="521208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49210" y="4175150"/>
            <a:ext cx="504749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3451" y="4251960"/>
            <a:ext cx="76810" cy="9875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2907" y="4251960"/>
            <a:ext cx="76810" cy="9875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4774" y="4317797"/>
            <a:ext cx="153619" cy="120701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82128" y="4372661"/>
            <a:ext cx="65837" cy="43891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5203" y="4372661"/>
            <a:ext cx="65837" cy="43891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로드맵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70년의 역사를 훑고, 마지막에 코랩에서 GPU를 켭니다.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ML · DL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튜링과 퍼셉트론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위기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시대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인공지능, 머신러닝, 딥러닝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단어는 어떤 관계일까요?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ML · DL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튜링과 퍼셉트론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위기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시대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⊃ 머신러닝 ⊃ 딥러닝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31920" cy="356616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C7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783080"/>
            <a:ext cx="2743200" cy="2651760"/>
          </a:xfrm>
          <a:prstGeom prst="ellipse">
            <a:avLst/>
          </a:prstGeom>
          <a:solidFill>
            <a:srgbClr val="C7DCF0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606040"/>
            <a:ext cx="1645920" cy="164592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(AI)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252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1950년대~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사람처럼 판단하는 프로그램 전체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(ML)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1980년대~ · 3강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761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데이터에서 스스로 배운다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429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(DL)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538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2010년대~ · 4~7강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904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층의 신경망으로 배운다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누가 만드나요?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전통적인 프로그래밍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7DC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(if문)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7D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5B6778"/>
          </a:solidFill>
          <a:ln w="15875">
            <a:solidFill>
              <a:srgbClr val="5B67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1874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74520" y="2212848"/>
            <a:ext cx="4114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74720" y="2212848"/>
            <a:ext cx="2743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94760" y="18745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6D1"/>
          </a:solidFill>
          <a:ln w="15875">
            <a:solidFill>
              <a:srgbClr val="FFF6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7D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18745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2B5B84"/>
          </a:solidFill>
          <a:ln w="15875">
            <a:solidFill>
              <a:srgbClr val="2B5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1874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212848"/>
            <a:ext cx="4114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0" y="2212848"/>
            <a:ext cx="2743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92440" y="18745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6D1"/>
          </a:solidFill>
          <a:ln w="15875">
            <a:solidFill>
              <a:srgbClr val="FFF6D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32369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32369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32369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438144"/>
            <a:ext cx="3566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사람이 정한 규칙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83480" y="31089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치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판매량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주면 → 규칙을 </a:t>
            </a:r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찾아요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if문은 파이썬 2강-1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70년의 역사 = 봄과 겨울의 반복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417320" y="1188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17320" y="1188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28803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2880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겨울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31089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3108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겨울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29400" y="11430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1143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기대가 커졌다가 → 한계에 부딪혀 실망하고 → 새 방법으로 다시 일어선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초창기: 기계는 생각할 수 있을까?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1950년대, 인공지능이라는 꿈이 시작됩니다.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ML · DL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튜링과 퍼셉트론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위기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시대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초창기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앨런 튜링: "기계는 생각할 수 있는가?"</a:t>
            </a:r>
            <a:endParaRPr lang="en-US" sz="2400" dirty="0"/>
          </a:p>
        </p:txBody>
      </p:sp>
      <p:pic>
        <p:nvPicPr>
          <p:cNvPr id="8" name="Image 0" descr="/home/claude/ml/img/m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259035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「Computing Machinery and Intelligence」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 테스트 (이미테이션 게임)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931920" y="16002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7DC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0" y="25146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7DC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31920" y="2514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40680" y="1463040"/>
            <a:ext cx="73152" cy="1737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0" y="32461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20574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2B5B84"/>
          </a:solidFill>
          <a:ln w="15875">
            <a:solidFill>
              <a:srgbClr val="2B5B8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심사위원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글로만 대화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931920" y="356616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60520" y="35661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대화만으로 사람과 기계를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구별하지 못하면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기계가 생각한다고 봐도 되지 않을까?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초창기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다트머스 회의: "인공지능"의 탄생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868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5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B5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매카시가 처음 쓴 이름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188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매카시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188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지은 사람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993392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9933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마빈 민스키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9933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1969년 『퍼셉트론』 저자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98064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27980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섀넌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79806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이론의 아버지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두 달 동안 모여 "기계가 배우고, 말하고, 문제를 풀게 하자"는 연구를 시작했어요.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초창기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퍼셉트론: 뇌세포를 흉내 낸 첫 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685800" cy="6858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581912"/>
            <a:ext cx="1143000" cy="7955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11680"/>
            <a:ext cx="685800" cy="6858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2359152"/>
            <a:ext cx="1143000" cy="1828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88920"/>
            <a:ext cx="685800" cy="6858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88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1280160" y="2377440"/>
            <a:ext cx="1143000" cy="75895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1874520"/>
            <a:ext cx="1005840" cy="1005840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474720" y="2377440"/>
            <a:ext cx="5486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19659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6D1"/>
          </a:solidFill>
          <a:ln w="15875">
            <a:solidFill>
              <a:srgbClr val="FFF6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69080" y="1965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팔림?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프랭크 로젠블랫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1600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입력에 중요도(가중치)를 곱해 더하고, 기준을 넘으면 1을 내보내요.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77840" y="237744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6072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1943 맥컬럭 · 피츠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7889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뇌세포(뉴런)를 수학으로 처음 표현했어요.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4강에서 PyTorch로 직접 만듭니다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겨울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기대가 너무 컸던 걸까요?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ML · DL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튜링과 퍼셉트론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위기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시대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겨울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겨울: 직선 하나로는 못 나눠요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1832" y="31821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7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31821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7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18105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7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1810512"/>
            <a:ext cx="310896" cy="310896"/>
          </a:xfrm>
          <a:prstGeom prst="ellipse">
            <a:avLst/>
          </a:prstGeom>
          <a:solidFill>
            <a:srgbClr val="E5484D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1463040"/>
            <a:ext cx="1463040" cy="2103120"/>
          </a:xfrm>
          <a:prstGeom prst="line">
            <a:avLst/>
          </a:prstGeom>
          <a:noFill/>
          <a:ln w="31750">
            <a:solidFill>
              <a:srgbClr val="1F9D5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 하나로 나뉨 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0515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67912" y="31821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7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9512" y="3182112"/>
            <a:ext cx="310896" cy="310896"/>
          </a:xfrm>
          <a:prstGeom prst="ellipse">
            <a:avLst/>
          </a:prstGeom>
          <a:solidFill>
            <a:srgbClr val="E5484D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67912" y="1810512"/>
            <a:ext cx="310896" cy="310896"/>
          </a:xfrm>
          <a:prstGeom prst="ellipse">
            <a:avLst/>
          </a:prstGeom>
          <a:solidFill>
            <a:srgbClr val="E5484D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9512" y="18105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76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직선으로도 안 됨 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1051560"/>
            <a:ext cx="2331720" cy="3063240"/>
          </a:xfrm>
          <a:prstGeom prst="roundRect">
            <a:avLst>
              <a:gd name="adj" fmla="val 3922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민스키 · 페퍼트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『퍼셉트론』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8745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퍼셉트론 하나는 XOR 같은 간단한 문제도 못 푼다는 걸 증명했어요.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실망한 정부·기업이 연구비를 끊으며 1970년대 첫 번째 겨울이 와요.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겨울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시스템과 두 번째 겨울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389120" cy="25146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1115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규칙을 직접 쓰는 방식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380744"/>
            <a:ext cx="402336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weekday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"토"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규칙 1,000개?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20640" y="105156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508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지식을 규칙으로 옮겨 실제로 쓰였어요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0640" y="23317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2441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끝없이 늘고, 예외 하나에 무너져요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475488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8404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→ 규칙을 데이터에서 스스로 배우자 = 머신러닝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· elif는 파이썬 2강-1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딥러닝, 다시 찾아온 봄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포기하지 않은 사람들이 있었습니다.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ML · DL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튜링과 퍼셉트론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위기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시대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역전파: 틀린 만큼 거꾸로 고친다</a:t>
            </a:r>
            <a:endParaRPr lang="en-US" sz="2400" dirty="0"/>
          </a:p>
        </p:txBody>
      </p:sp>
      <p:pic>
        <p:nvPicPr>
          <p:cNvPr id="8" name="Image 0" descr="/home/claude/ml/img/hint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8872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615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제프리 힌턴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8712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역전파를 널리 알린 연구자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0" y="16002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E8F1FA"/>
          </a:solidFill>
          <a:ln w="15875">
            <a:solidFill>
              <a:srgbClr val="E8F1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16002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16002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E8F1FA"/>
          </a:solidFill>
          <a:ln w="15875">
            <a:solidFill>
              <a:srgbClr val="E8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16002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16002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E8F1FA"/>
          </a:solidFill>
          <a:ln w="15875">
            <a:solidFill>
              <a:srgbClr val="E8F1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78040" y="16002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FFF6D1"/>
          </a:solidFill>
          <a:ln w="15875">
            <a:solidFill>
              <a:srgbClr val="FFF6D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78040" y="16002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023360" y="1892808"/>
            <a:ext cx="301752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440680" y="1892808"/>
            <a:ext cx="301752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858000" y="1892808"/>
            <a:ext cx="301752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92608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앞으로 계산 → 예측 80잔 (정답 100잔)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108960" y="2514600"/>
            <a:ext cx="4846320" cy="0"/>
          </a:xfrm>
          <a:prstGeom prst="line">
            <a:avLst/>
          </a:prstGeom>
          <a:noFill/>
          <a:ln w="31750">
            <a:solidFill>
              <a:srgbClr val="E5484D"/>
            </a:solidFill>
            <a:prstDash val="solid"/>
            <a:head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926080" y="2606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틀린 만큼(20잔) 거꾸로 돌아가며 가중치를 고쳐요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926080" y="315468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54680" y="3154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층의 신경망을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학습시키는 방법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생겼어요. XOR도 풀 수 있게 됐죠.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926080" y="4023360"/>
            <a:ext cx="3840480" cy="41148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2608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4강에서 PyTorch가 대신 해 줍니다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LeNet: 손글씨 숫자를 읽는 신경망</a:t>
            </a:r>
            <a:endParaRPr lang="en-US" sz="2400" dirty="0"/>
          </a:p>
        </p:txBody>
      </p:sp>
      <p:pic>
        <p:nvPicPr>
          <p:cNvPr id="8" name="Image 0" descr="/home/claude/ml/img/lec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8872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615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얀 르쿤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8712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CNN의 아버지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12344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23444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23444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12344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150876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5087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66160" y="15087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150876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17520" y="17830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91840" y="17830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66160" y="178308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17830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17520" y="20574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0" y="205740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66160" y="20574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0" y="20574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017520" y="233172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23317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23317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0480" y="23317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17520" y="260604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91840" y="260604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66160" y="260604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40480" y="2606040"/>
            <a:ext cx="274320" cy="274320"/>
          </a:xfrm>
          <a:prstGeom prst="rect">
            <a:avLst/>
          </a:prstGeom>
          <a:solidFill>
            <a:srgbClr val="1F2A3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06240" y="2057400"/>
            <a:ext cx="548640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846320" y="169164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2B5B84"/>
          </a:solidFill>
          <a:ln w="15875">
            <a:solidFill>
              <a:srgbClr val="2B5B8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0" y="1691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035040" y="2057400"/>
            <a:ext cx="548640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675120" y="1691640"/>
            <a:ext cx="822960" cy="731520"/>
          </a:xfrm>
          <a:prstGeom prst="roundRect">
            <a:avLst>
              <a:gd name="adj" fmla="val 10000"/>
            </a:avLst>
          </a:prstGeom>
          <a:solidFill>
            <a:srgbClr val="FFF6D1"/>
          </a:solidFill>
          <a:ln w="15875">
            <a:solidFill>
              <a:srgbClr val="FFF6D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75120" y="1691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"2"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3017520" y="310896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246120" y="31089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 수표와 우편번호의 손글씨 숫자를 읽어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현장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쓰였어요. 그림을 보고 판단하는 CNN의 시작이에요.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3017520" y="4069080"/>
            <a:ext cx="4572000" cy="41148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01752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5강 CNN에서 반납대 컵 세기로 이어집니다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0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AlexNet: 딥러닝의 폭발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9601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715000" y="1051560"/>
            <a:ext cx="2971800" cy="841248"/>
          </a:xfrm>
          <a:prstGeom prst="roundRect">
            <a:avLst>
              <a:gd name="adj" fmla="val 1087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70448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ImageNet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120만 장의 사진, 1,000가지 물체를 맞히는 대회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011680"/>
            <a:ext cx="2971800" cy="841248"/>
          </a:xfrm>
          <a:prstGeom prst="roundRect">
            <a:avLst>
              <a:gd name="adj" fmla="val 1087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70448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AlexNet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870448" y="2377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오류율을 한 번에 10%p 가까이 낮춘 딥러닝 모델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15000" y="2971800"/>
            <a:ext cx="2971800" cy="841248"/>
          </a:xfrm>
          <a:prstGeom prst="roundRect">
            <a:avLst>
              <a:gd name="adj" fmla="val 10870"/>
            </a:avLst>
          </a:prstGeom>
          <a:solidFill>
            <a:srgbClr val="FFF6D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70448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비결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870448" y="3337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2개로 학습 → 큰 데이터 + 빠른 계산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2015년에는 사람(약 5%)보다 낮아졌어요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이긴 인공지능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3444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딥블루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: 2.5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 카스파로프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짠 규칙 + 엄청난 탐색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E8F1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23444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234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바둑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알파고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: 1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이세돌 9단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스스로 둔 대국으로 학습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알파고는 바둑판의 경우의 수가 너무 많아 규칙만으로는 불가능했던 바둑에서 이겼어요.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828800" y="416052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2880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짜 넣던 AI → 데이터로 배우는 AI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AI: 트랜스포머에서 ChatGPT까지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38528"/>
            <a:ext cx="329184" cy="329184"/>
          </a:xfrm>
          <a:prstGeom prst="ellipse">
            <a:avLst/>
          </a:prstGeom>
          <a:solidFill>
            <a:srgbClr val="2B5B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「Attention Is All You Need」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38528"/>
            <a:ext cx="329184" cy="329184"/>
          </a:xfrm>
          <a:prstGeom prst="ellipse">
            <a:avLst/>
          </a:prstGeom>
          <a:solidFill>
            <a:srgbClr val="2B5B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· GPT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글을 미리 읽은 언어 모델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1938528"/>
            <a:ext cx="329184" cy="329184"/>
          </a:xfrm>
          <a:prstGeom prst="ellipse">
            <a:avLst/>
          </a:prstGeom>
          <a:solidFill>
            <a:srgbClr val="E54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대화로 쓰는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938528"/>
            <a:ext cx="329184" cy="329184"/>
          </a:xfrm>
          <a:prstGeom prst="ellipse">
            <a:avLst/>
          </a:prstGeom>
          <a:solidFill>
            <a:srgbClr val="2B5B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 · 그림 · 소리까지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703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7강에서: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"음… 아아 하나, 아니 둘이요. 하나는 연하게"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깔끔한 주문서로!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과학의 최고 영예까지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07008"/>
            <a:ext cx="585216" cy="585216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161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튜링상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527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과학의 노벨상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1612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제프리 힌턴 · 얀 르쿤 · 요슈아 벤지오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기초를 놓은 공로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231136"/>
            <a:ext cx="585216" cy="585216"/>
          </a:xfrm>
          <a:prstGeom prst="ellipse">
            <a:avLst/>
          </a:prstGeom>
          <a:solidFill>
            <a:srgbClr val="E0B1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231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185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노벨 물리학상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1854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홉필드 · 제프리 힌턴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5511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 신경망 학습의 기초가 된 발견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55264"/>
            <a:ext cx="585216" cy="585216"/>
          </a:xfrm>
          <a:prstGeom prst="ellipse">
            <a:avLst/>
          </a:prstGeom>
          <a:solidFill>
            <a:srgbClr val="E0B1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552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209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노벨 화학상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2095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데미스 허사비스 · 존 점퍼 · 데이비드 베이커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575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알파폴드: 단백질 구조 예측과 설계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겨울에도 포기하지 않았던 연구가 결국 과학 전체를 바꿨어요.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인공지능을 다시 살린 세 가지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560320" cy="91440"/>
          </a:xfrm>
          <a:prstGeom prst="rect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· 스마트폰 · 키오스크가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엄청난 기록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2강에서 직접 다뤄요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097280"/>
            <a:ext cx="2560320" cy="914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개의 계산을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하는 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971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코랩에서 켜요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97280"/>
            <a:ext cx="2560320" cy="9144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역전파 · CNN 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971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3~7강에서 배워요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5669280" cy="5029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40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GPU, 우리도 공짜로 써 볼 수 있어요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28432" y="3657600"/>
            <a:ext cx="0" cy="146304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7226" y="3584448"/>
            <a:ext cx="102413" cy="102413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3803904"/>
            <a:ext cx="877824" cy="694944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1933" y="3920947"/>
            <a:ext cx="672998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30922" y="4023360"/>
            <a:ext cx="102413" cy="131674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3530" y="4023360"/>
            <a:ext cx="102413" cy="131674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26019" y="4111142"/>
            <a:ext cx="204826" cy="160934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35824" y="4184294"/>
            <a:ext cx="87782" cy="58522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3258" y="4184294"/>
            <a:ext cx="87782" cy="58522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코랩에서 GPU 켜기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없이, 브라우저에서 바로 시작합니다.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ML · DL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튜링과 퍼셉트론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위기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딥러닝의 시대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 여는 법: 3단계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28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폴더 열기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StartClassBeginner / MachineLearning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194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  역사 · 코랩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249424"/>
            <a:ext cx="960120" cy="182880"/>
          </a:xfrm>
          <a:prstGeom prst="rect">
            <a:avLst/>
          </a:prstGeom>
          <a:solidFill>
            <a:srgbClr val="444444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22494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Colab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 Open in Colab 버튼 클릭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234440"/>
            <a:ext cx="384048" cy="384048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28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Drive에 사본 저장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  수정   보기   삽입   런타임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2029968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520440" y="2057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 열기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47288" y="2286000"/>
            <a:ext cx="1700784" cy="22860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2286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Drive에 사본 저장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드라이브에 복사해야 저장돼요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26480" y="10972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234440"/>
            <a:ext cx="384048" cy="384048"/>
          </a:xfrm>
          <a:prstGeom prst="ellipse">
            <a:avLst/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28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위에서부터 실행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1874520"/>
            <a:ext cx="23774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1929384"/>
            <a:ext cx="237744" cy="237744"/>
          </a:xfrm>
          <a:prstGeom prst="ellipse">
            <a:avLst/>
          </a:prstGeom>
          <a:solidFill>
            <a:srgbClr val="1F2A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2331720"/>
            <a:ext cx="23774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2386584"/>
            <a:ext cx="237744" cy="23774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✏️ 직접 입력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버튼 또는 Shift + Enter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강좌를 들었다면 복습이에요. 이번엔 여기에 </a:t>
            </a:r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켜 볼게요.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사용법은 파이썬 1강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켜기: 런타임 유형 변경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9464" y="1188720"/>
            <a:ext cx="566928" cy="274320"/>
          </a:xfrm>
          <a:prstGeom prst="rect">
            <a:avLst/>
          </a:prstGeom>
          <a:solidFill>
            <a:srgbClr val="E8F1FA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188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0" y="150876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965960" y="1600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실행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1965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셀 실행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331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다시 시작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47088" y="2697480"/>
            <a:ext cx="2066544" cy="310896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65960" y="2697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유형 변경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3063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연결 해제 및 삭제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2423160"/>
            <a:ext cx="365760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63440" y="10972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유형 변경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가속기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02082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1965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40487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46904" y="2459736"/>
            <a:ext cx="91440" cy="914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2350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GPU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278892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12080" y="2734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320040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0" y="3200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→ 런타임 유형 변경 → </a:t>
            </a:r>
            <a:pPr indent="0" marL="0">
              <a:buNone/>
            </a:pPr>
            <a:r>
              <a:rPr lang="en-US" sz="12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GPU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저장.  무료 GPU는 사용 시간에 제한이 있어서, 안 쓸 땐 꺼 두세요.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코랩 확인하기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7548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__version__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__version__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__version__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is_available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GPU 확인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코랩 확인하기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7548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__version__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__version__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__version__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is_available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GPU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105156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124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325880"/>
            <a:ext cx="2606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2.8.0+cu126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5146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숫자는 시기마다 달라요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2834640"/>
            <a:ext cx="2880360" cy="960120"/>
          </a:xfrm>
          <a:prstGeom prst="roundRect">
            <a:avLst>
              <a:gd name="adj" fmla="val 9524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GPU 연결 성공!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False라면 GPU 켜기를 다시 확인하세요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· scikit-learn · Pandas, 코랩에 이미 다 깔려 있어요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GPU가 연결됐을까?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GPU가 연결됐을까?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039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240280"/>
            <a:ext cx="7955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+-----------------------------------------------------------+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NVIDIA-SMI 550.54.15     Driver Version: 550.54.15        |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GPU  Name        ...  |      Memory-Usage    | GPU-Util  |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0  Tesla T4      ...  |   0MiB / 15360MiB    |    0%     |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+-----------------------------------------------------------+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57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앞의 </a:t>
            </a:r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파이썬이 아니라 컴퓨터에게 직접 내리는 명령이에요.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Tesla T4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메모리 약 15GB짜리 GPU를 빌렸어요.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[선택] GPU는 얼마나 빠를까?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66928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53035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숫자 1,600만 개짜리 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큰 곱셈 (CPU)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"CPU:"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"초"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"cuda"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표를 GPU로 옮기기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준비 운동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계산이 끝날 때까지 기다리기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"GPU:"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"초"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코랩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[선택] GPU는 얼마나 빠를까?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66928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53035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숫자 1,600만 개짜리 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큰 곱셈 (CPU)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"CPU:"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"초"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"cuda"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표를 GPU로 옮기기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준비 운동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계산이 끝날 때까지 기다리기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"GPU:"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"초"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124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3258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1.873 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GPU: 0.024 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(예시) 숫자는 실행할 때마다 달라요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560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계산이 </a:t>
            </a:r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배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빨라요. 코드는 지금 몰라도 괜찮아요.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한 장 요약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77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⊃ ML ⊃ DL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029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머신러닝 = 데이터에서 규칙을 배운다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봄과 겨울의 70년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029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퍼셉트론 → 겨울 → 역전파 → 딥러닝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일어선 힘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GPU · 알고리즘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2강 데이터, 3~7강 알고리즘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GPU 연결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torch.cuda.is_available() → True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복습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미션: 내 코랩에 GPU 켜기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 노트를 열고 GPU를 켠 다음, 아래 셀을 실행해 보세요.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212080" cy="35204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36245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6245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36245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563624"/>
            <a:ext cx="484632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is_available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914400"/>
            <a:ext cx="2788920" cy="758952"/>
          </a:xfrm>
          <a:prstGeom prst="roundRect">
            <a:avLst>
              <a:gd name="adj" fmla="val 963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987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18872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Tesla T4  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1764792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7647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나오면 성공!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2267712"/>
            <a:ext cx="2788920" cy="2487168"/>
          </a:xfrm>
          <a:prstGeom prst="roundRect">
            <a:avLst>
              <a:gd name="adj" fmla="val 3676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59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전에, 이것만은 꼭!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277063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724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GitHub에서 1강 노트 열기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09981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0540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Drive에 사본 저장하기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유형을 T4 GPU로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7581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712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True와 Tesla T4 확인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5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· 2강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데이터 기초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치 주문 데이터를 NumPy와 Pandas로 다뤄 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4825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04825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49424"/>
            <a:ext cx="38404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"rain"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· Pandas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계산과 표 다루기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97180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· X와 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보고, 학습 준비까지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구독과 좋아요 부탁드려요. 2강에서 만나요!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47304" y="4069080"/>
            <a:ext cx="0" cy="109728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8899" y="4014216"/>
            <a:ext cx="76810" cy="76810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4178808"/>
            <a:ext cx="658368" cy="521208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94930" y="4266590"/>
            <a:ext cx="504749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9171" y="4343400"/>
            <a:ext cx="76810" cy="9875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8627" y="4343400"/>
            <a:ext cx="76810" cy="9875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0494" y="4409237"/>
            <a:ext cx="153619" cy="120701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7848" y="4464101"/>
            <a:ext cx="65837" cy="43891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0923" y="4464101"/>
            <a:ext cx="65837" cy="43891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1강. 인공지능의 역사와 코랩 시작하기</dc:title>
  <dc:subject>PptxGenJS Presentation</dc:subject>
  <dc:creator>PptxGenJS</dc:creator>
  <cp:lastModifiedBy>PptxGenJS</cp:lastModifiedBy>
  <cp:revision>1</cp:revision>
  <dcterms:created xsi:type="dcterms:W3CDTF">2026-10-16T18:32:19Z</dcterms:created>
  <dcterms:modified xsi:type="dcterms:W3CDTF">2026-10-16T18:32:19Z</dcterms:modified>
</cp:coreProperties>
</file>